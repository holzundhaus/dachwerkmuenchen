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werkmuenchen/-/blob/1e66e2e24146aa8f0423cd663d14f5c678a0d64d/_posts/2026-10-22-dachgaube-muenchen-genehmigung-pruefen-irrtuemer-vermeiden.md" TargetMode="External"/><Relationship Id="rId3" Type="http://schemas.openxmlformats.org/officeDocument/2006/relationships/hyperlink" Target="https://holzundhaus.github.io/dachwerkmuenchen/dateien/minimax-e0e00a54f5352fafea09a5f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 in München: Genehmigung prüfen, Irrtümer vermeiden · Erklärende Präsentation</a:t>
            </a:r>
          </a:p>
        </p:txBody>
      </p:sp>
      <p:sp>
        <p:nvSpPr>
          <p:cNvPr id="3" name="Content Placeholder 2"/>
          <p:cNvSpPr>
            <a:spLocks noGrp="1"/>
          </p:cNvSpPr>
          <p:nvPr>
            <p:ph idx="1"/>
          </p:nvPr>
        </p:nvSpPr>
        <p:spPr/>
        <p:txBody>
          <a:bodyPr/>
          <a:lstStyle/>
          <a:p>
            <a:r>
              <a:t>Überblick: Eine Dachgaube kann das Dachgeschoss lichter, nutzbarer und komfortabler machen. In München ist jedoch nicht jede Gaube automatisch genehmigungsfrei. Entscheidend sind Bauart, Größe, Lage am Gebäude, der Bebauungsplan und mögliche denkmalrechtliche Besonderheiten. Dieser Leitfaden strukturiert die wichtigsten Prüfschritte, damit Eigentümerinnen und Eigentümer vor der Planung die passenden Unterlagen sammeln und mögliche Verfahrensfragen klären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verfahrensfrei bedeutet und was nicht</a:t>
            </a:r>
          </a:p>
        </p:txBody>
      </p:sp>
      <p:sp>
        <p:nvSpPr>
          <p:cNvPr id="3" name="Content Placeholder 2"/>
          <p:cNvSpPr>
            <a:spLocks noGrp="1"/>
          </p:cNvSpPr>
          <p:nvPr>
            <p:ph idx="1"/>
          </p:nvPr>
        </p:nvSpPr>
        <p:spPr/>
        <p:txBody>
          <a:bodyPr/>
          <a:lstStyle/>
          <a:p>
            <a:pPr>
              <a:defRPr sz="1800"/>
            </a:pPr>
            <a:r>
              <a:t>Viele gehen davon aus, dass eine Gaube ohne Genehmigung errichtet werden darf, weil bestimmte Formen und Größen möglicherweise unter die Bayerische Bauordnung fallen. Das ist nur unter engen Voraussetzungen der Fall. Zu prüfen sind insbesondere Breite und Höhe im Verhältnis zur Dachfläche, Abstände zu Nachbargebäuden und Grundstücksgrenzen, die Lage innerhalb oder außerhalb eines Bebauungsplans sowie eine mögliche Unterschutzstellung von Gebäude oder Umgebung. Verfahrensfreiheit bedeutet außerdem nicht, dass alle baulichen Anforderungen entfallen. Standsicherheit des Dachstuhls, Wärmeschutz, Luftdichtheit und Absturzsicherung am Gaubenfenster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verfahrensfrei bedeutet und was nicht</a:t>
            </a:r>
          </a:p>
        </p:txBody>
      </p:sp>
      <p:sp>
        <p:nvSpPr>
          <p:cNvPr id="3" name="Content Placeholder 2"/>
          <p:cNvSpPr>
            <a:spLocks noGrp="1"/>
          </p:cNvSpPr>
          <p:nvPr>
            <p:ph idx="1"/>
          </p:nvPr>
        </p:nvSpPr>
        <p:spPr/>
        <p:txBody>
          <a:bodyPr/>
          <a:lstStyle/>
          <a:p>
            <a:pPr>
              <a:defRPr sz="1800"/>
            </a:pPr>
            <a:r>
              <a:t> müssen weiterhin berücksichtigt werden. Auch eine Anzeige bei der LBK kann erforderlich sein. Die Einordnung sollte deshalb früh und nicht erst kurz vor dem Bau erfolgen.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 Denkmalschutz und Bebauungsplan</a:t>
            </a:r>
          </a:p>
        </p:txBody>
      </p:sp>
      <p:sp>
        <p:nvSpPr>
          <p:cNvPr id="3" name="Content Placeholder 2"/>
          <p:cNvSpPr>
            <a:spLocks noGrp="1"/>
          </p:cNvSpPr>
          <p:nvPr>
            <p:ph idx="1"/>
          </p:nvPr>
        </p:nvSpPr>
        <p:spPr/>
        <p:txBody>
          <a:bodyPr/>
          <a:lstStyle/>
          <a:p>
            <a:pPr>
              <a:defRPr sz="1800"/>
            </a:pPr>
            <a:r>
              <a:t>In vielen Münchner Stadtvierteln können zusätzliche Regelungen greifen. Liegt das Gebäude in einem Ensemble oder ist es denkmalgeschützt, ist eine Gaube nach den Angaben der Quelle fast immer genehmigungspflichtig. Auch ein Bebauungsplan kann Form, Größe und Anordnung der Gaube einschränken. Für die Prüfung sind daher nicht nur die sichtbaren baulichen Merkmale relevant, sondern auch die planerischen und städtebaulichen Rahmenbedingungen. Hilfreich ist ein Blick in die vorhandenen Unterlagen des Gebäudes sowie in die Informationen der Stadtplanung. Damit lässt sich besser einschätzen, welche Genehmigungs- oder Anzeigeschritte zu erwarten sind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 Denkmalschutz und Bebauungsplan</a:t>
            </a:r>
          </a:p>
        </p:txBody>
      </p:sp>
      <p:sp>
        <p:nvSpPr>
          <p:cNvPr id="3" name="Content Placeholder 2"/>
          <p:cNvSpPr>
            <a:spLocks noGrp="1"/>
          </p:cNvSpPr>
          <p:nvPr>
            <p:ph idx="1"/>
          </p:nvPr>
        </p:nvSpPr>
        <p:spPr/>
        <p:txBody>
          <a:bodyPr/>
          <a:lstStyle/>
          <a:p>
            <a:pPr>
              <a:defRPr sz="1800"/>
            </a:pPr>
            <a:r>
              <a:t> und welche konstruktiven Alternativen bleiben. Die zentrale Dachgauben-Übersicht der Website bietet dafür einen ergänzenden Einstieg in das Thema.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die vor der Anfrage bereitliegen sollten</a:t>
            </a:r>
          </a:p>
        </p:txBody>
      </p:sp>
      <p:sp>
        <p:nvSpPr>
          <p:cNvPr id="3" name="Content Placeholder 2"/>
          <p:cNvSpPr>
            <a:spLocks noGrp="1"/>
          </p:cNvSpPr>
          <p:nvPr>
            <p:ph idx="1"/>
          </p:nvPr>
        </p:nvSpPr>
        <p:spPr/>
        <p:txBody>
          <a:bodyPr/>
          <a:lstStyle/>
          <a:p>
            <a:pPr>
              <a:defRPr sz="1800"/>
            </a:pPr>
            <a:r>
              <a:t>Eine gut vorbereitete Anfrage spart Rückfragen und beschleunigt die anschließende Prüfung. Für die Beurteilung des Vorhabens sollten Grundrisse und ein Schnitt des bestehenden Dachgeschosses vorliegen. Ebenso wichtig sind Angaben zur Dachneigung, zum vorhandenen Dachstuhl und zu den geplanten Abmessungen der Gaube. Fotos der betroffenen Dachfläche erleichtern die Einschätzung der Einbausituation. Falls vorhanden, sollte außerdem der geltende Bebauungsplan herangezogen werden. Fehlen diese Angaben, kann die Prüfung länger dauern oder zu zusätzlichen Nachfragen führen. Die Unterlagen schaffen zudem eine belastbare Grundlage für die Abstimmung 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die vor der Anfrage bereitliegen sollten</a:t>
            </a:r>
          </a:p>
        </p:txBody>
      </p:sp>
      <p:sp>
        <p:nvSpPr>
          <p:cNvPr id="3" name="Content Placeholder 2"/>
          <p:cNvSpPr>
            <a:spLocks noGrp="1"/>
          </p:cNvSpPr>
          <p:nvPr>
            <p:ph idx="1"/>
          </p:nvPr>
        </p:nvSpPr>
        <p:spPr/>
        <p:txBody>
          <a:bodyPr/>
          <a:lstStyle/>
          <a:p>
            <a:pPr>
              <a:defRPr sz="1800"/>
            </a:pPr>
            <a:r>
              <a:t>it einem Fachbetrieb und dafür, unterschiedliche Lösungen miteinander zu vergleichen.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Gaube oder Dachfenster abwägen</a:t>
            </a:r>
          </a:p>
        </p:txBody>
      </p:sp>
      <p:sp>
        <p:nvSpPr>
          <p:cNvPr id="3" name="Content Placeholder 2"/>
          <p:cNvSpPr>
            <a:spLocks noGrp="1"/>
          </p:cNvSpPr>
          <p:nvPr>
            <p:ph idx="1"/>
          </p:nvPr>
        </p:nvSpPr>
        <p:spPr/>
        <p:txBody>
          <a:bodyPr/>
          <a:lstStyle/>
          <a:p>
            <a:pPr>
              <a:defRPr sz="1800"/>
            </a:pPr>
            <a:r>
              <a:t>Nicht immer ist eine Gaube die passende Lösung. Wenn das Ziel vor allem darin besteht, Licht und Belüftung im Dachgeschoss zu verbessern, kann ein großformatiges Dachfenster einen geringeren Eingriff in die Dachkonstruktion bedeuten. Auch die Genehmigungsfrage stellt sich laut Quelle bei dieser Alternative seltener. Die Entscheidung hängt jedoch nicht allein vom baulichen Eingriff ab. Zu berücksichtigen sind die gewünschte Nutzung, der zusätzliche Raumgewinn, die Auswirkungen auf die Dachkonstruktion sowie die Anforderungen an Wärmeschutz, Luftdichtheit und Absturzsicherung. Dachfenster und Gaube sollten daher anhand des konkreten Dachgeschos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Gaube oder Dachfenster abwägen</a:t>
            </a:r>
          </a:p>
        </p:txBody>
      </p:sp>
      <p:sp>
        <p:nvSpPr>
          <p:cNvPr id="3" name="Content Placeholder 2"/>
          <p:cNvSpPr>
            <a:spLocks noGrp="1"/>
          </p:cNvSpPr>
          <p:nvPr>
            <p:ph idx="1"/>
          </p:nvPr>
        </p:nvSpPr>
        <p:spPr/>
        <p:txBody>
          <a:bodyPr/>
          <a:lstStyle/>
          <a:p>
            <a:pPr>
              <a:defRPr sz="1800"/>
            </a:pPr>
            <a:r>
              <a:t>ses und der örtlichen Rahmenbedingungen verglichen werden, statt ausschließlich nach der optischen Wirkung ausgewählt zu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Vorbereitung für eine sichere Umsetzung</a:t>
            </a:r>
          </a:p>
        </p:txBody>
      </p:sp>
      <p:sp>
        <p:nvSpPr>
          <p:cNvPr id="3" name="Content Placeholder 2"/>
          <p:cNvSpPr>
            <a:spLocks noGrp="1"/>
          </p:cNvSpPr>
          <p:nvPr>
            <p:ph idx="1"/>
          </p:nvPr>
        </p:nvSpPr>
        <p:spPr/>
        <p:txBody>
          <a:bodyPr/>
          <a:lstStyle/>
          <a:p>
            <a:pPr>
              <a:defRPr sz="1800"/>
            </a:pPr>
            <a:r>
              <a:t>Die praktische Reihenfolge lautet: erst die Verfahrensfrage klären, dann die erforderlichen Unterlagen zusammenstellen, anschließend konstruktive Alternativen bewerten und erst danach einen Fachbetrieb beauftragen oder eine Anfrage an die zuständige Stelle stellen. So kann vermieden werden, dass Planung und Genehmigungsprüfung auseinanderlaufen. Bei einer Dachgaube in München sollte außerdem dokumentiert werden, welche Anforderungen an Dachstuhl, Wärmeschutz, Luftdichtheit und Fenstersicherung berücksichtigt wurden. Weitere offizielle Informationen zum Dachgeschossausbau und zu den erforderlichen Schritten bietet die Stadt München an. Wer die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Vorbereitung für eine sichere Umsetzung</a:t>
            </a:r>
          </a:p>
        </p:txBody>
      </p:sp>
      <p:sp>
        <p:nvSpPr>
          <p:cNvPr id="3" name="Content Placeholder 2"/>
          <p:cNvSpPr>
            <a:spLocks noGrp="1"/>
          </p:cNvSpPr>
          <p:nvPr>
            <p:ph idx="1"/>
          </p:nvPr>
        </p:nvSpPr>
        <p:spPr/>
        <p:txBody>
          <a:bodyPr/>
          <a:lstStyle/>
          <a:p>
            <a:pPr>
              <a:defRPr sz="1800"/>
            </a:pPr>
            <a:r>
              <a:t> Prüfung früh ansetzt und die verschiedenen Varianten offen abwägt, behält auch bei späteren Rückfragen den Überblick.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Dachgaube in München: Genehmigung prüfen, Irrtümer vermeiden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